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39" r:id="rId2"/>
    <p:sldId id="2638" r:id="rId3"/>
    <p:sldId id="2640" r:id="rId10"/>
    <p:sldId id="2641" r:id="rId11"/>
    <p:sldId id="2642" r:id="rId12"/>
    <p:sldId id="2643" r:id="rId13"/>
    <p:sldId id="2644" r:id="rId14"/>
    <p:sldId id="2645" r:id="rId15"/>
    <p:sldId id="2646" r:id="rId16"/>
    <p:sldId id="2647" r:id="rId17"/>
    <p:sldId id="2648" r:id="rId18"/>
    <p:sldId id="2649" r:id="rId19"/>
    <p:sldId id="2650" r:id="rId20"/>
    <p:sldId id="2651" r:id="rId21"/>
    <p:sldId id="2652" r:id="rId22"/>
    <p:sldId id="2653" r:id="rId23"/>
    <p:sldId id="2654" r:id="rId24"/>
    <p:sldId id="265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rafting a Meaningful Christian Church Sermon" id="{9003B2F8-1902-6A43-986D-673292E8CC8A}">
          <p14:sldIdLst>
            <p14:sldId id="2639"/>
            <p14:sldId id="2638"/>
          </p14:sldIdLst>
        </p14:section>
        <p14:section name="Understanding the Purpose of a Sermon" id="{56ED5ADF-41CD-764F-9E88-B31381DE220F}">
          <p14:sldIdLst/>
        </p14:section>
        <p14:section name="Preparing for a Sermon" id="{908F60C9-9550-574B-B74C-ACBB9DD80672}">
          <p14:sldIdLst/>
        </p14:section>
        <p14:section name="Structure and Components of a Sermon" id="{C11A1F97-F310-2E4F-AB05-A2000EC56FE7}">
          <p14:sldIdLst/>
        </p14:section>
        <p14:section name="Delivering the Sermon Effectively" id="{058A412B-2696-B045-8755-0269B6BED129}">
          <p14:sldIdLst/>
        </p14:section>
        <p14:section name="Reflecting and Improving Future Sermons" id="{578CBD88-C882-A642-8D01-CB60FC8C8207}">
          <p14:sldIdLst/>
        </p14:section>
        <p14:section name="Conclusion" id="{753FB2F6-4F95-484E-8AFA-4A5DF9CCFD9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7C6E3-A3F4-694A-A39A-5F208910BFB1}" v="2" dt="2025-10-01T21:42:47.6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B510A-FF0D-574C-B13E-8E340E2065B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F12B8-BC96-A543-BCAC-A49EBD3F5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7607-76FA-201C-E87F-66A429EF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6C8F6-739B-6486-E3CA-D54F62D0A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0F0A0-54EE-8627-A5A4-3B67453C1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AI-generated content may be incorrect.
---
A well-crafted sermon can deeply impact the spiritual journey of a congregation. In this presentation, we will explore the purpose of a sermon, how to prepare effectively, the essential structure, delivery techniques, and ways to continually improve our preaching.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FC49D-0188-C9FB-6995-84A05BDD8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882E0E-888B-9146-960D-DF05269279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2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7C81-2956-2EFD-02BE-DC14CE1E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15DB0-60D2-7A1B-FC09-75B510165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7E80C-A5FB-38AF-2B6F-D344C3582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body of the sermon develops the main message, using scripture and relevant stories to illustrate and reinforce the key points. This helps the congregation relate to the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F5557-6DD8-CF44-6DAC-E2C2790B5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882E0E-888B-9146-960D-DF05269279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323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9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1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5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0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88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5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0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032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olylogos.org/article?i=2022%E5%B9%B4%20NYSC%20%E5%B0%88%E9%A1%8C%20%E9%A6%AC%E5%A4%AA%E7%A6%8F%E9%9F%B3%E9%87%8B%E7%B6%93%EF%BC%88%E4%B9%9D%EF%BC%89%E7%8E%8B%E5%AE%88%E4%BB%81%20%E6%95%99%E6%8E%88%20%20%E7%AC%AC%E4%BA%8C%E5%A0%82&amp;o=holylogos&amp;rid=SXmKZuHj4D4PJRKjL-8Ee" TargetMode="Externa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91CB7-5698-F1E9-3F00-C21DFACB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8365-45B2-E42E-D300-807DE814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556148" cy="39776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zh-TW" altLang="en-US"/>
              <a:t>萬人的救主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4D2F8-A20C-02B0-33C7-D96F3861C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177" y="3945112"/>
            <a:ext cx="5556149" cy="1110364"/>
          </a:xfrm>
        </p:spPr>
        <p:txBody>
          <a:bodyPr anchor="ctr">
            <a:normAutofit/>
          </a:bodyPr>
          <a:lstStyle/>
          <a:p>
            <a:r>
              <a:rPr lang="zh-TW" altLang="en-US" b="1" i="0"/>
              <a:t>馬太福音</a:t>
            </a:r>
            <a:r>
              <a:rPr lang="en-US" altLang="zh-TW" b="1" i="0"/>
              <a:t>20</a:t>
            </a:r>
            <a:r>
              <a:rPr lang="zh-TW" altLang="en-US" b="1" i="0"/>
              <a:t>章研讀</a:t>
            </a:r>
            <a:r>
              <a:rPr lang="zh-CN" altLang="en-US" b="1" i="0"/>
              <a:t> </a:t>
            </a:r>
            <a:r>
              <a:rPr lang="en-US" altLang="zh-CN" b="1" i="0"/>
              <a:t>2</a:t>
            </a:r>
            <a:r>
              <a:rPr lang="zh-CN" altLang="en-US" b="1" i="0"/>
              <a:t> </a:t>
            </a:r>
            <a:endParaRPr lang="en-US" altLang="zh-TW" i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4B113BB-DEDB-8341-C3E3-0843F3DAA35A}"/>
              </a:ext>
            </a:extLst>
          </p:cNvPr>
          <p:cNvSpPr txBox="1">
            <a:spLocks/>
          </p:cNvSpPr>
          <p:nvPr/>
        </p:nvSpPr>
        <p:spPr>
          <a:xfrm>
            <a:off x="496177" y="5164069"/>
            <a:ext cx="5577839" cy="13167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i="0"/>
              <a:t>根據王守仁教授</a:t>
            </a:r>
            <a:r>
              <a:rPr lang="en-US" altLang="zh-TW" i="0">
                <a:hlinkClick r:id="rId3"/>
              </a:rPr>
              <a:t>20</a:t>
            </a:r>
            <a:r>
              <a:rPr lang="en-US" altLang="zh-CN" i="0">
                <a:hlinkClick r:id="rId3"/>
              </a:rPr>
              <a:t>18 </a:t>
            </a:r>
            <a:r>
              <a:rPr lang="zh-CN" altLang="en-US" i="0">
                <a:hlinkClick r:id="rId3"/>
              </a:rPr>
              <a:t>年</a:t>
            </a:r>
            <a:r>
              <a:rPr lang="zh-TW" altLang="en-US" i="0">
                <a:hlinkClick r:id="rId3"/>
              </a:rPr>
              <a:t>紐約靈命進深會講道錄音筆記</a:t>
            </a:r>
            <a:endParaRPr lang="en-US" altLang="zh-TW" i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06EB9-3D77-07CB-CAE8-3002FA837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326" y="982030"/>
            <a:ext cx="5412898" cy="461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2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F690-7565-A7D8-2718-B3E898A0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B27E3-8405-C81D-CE4C-CF39A8D8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9999647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C2F0EF-51A1-2079-403F-1CF42441300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21207" y="2035486"/>
            <a:ext cx="10893132" cy="4645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b="1"/>
              <a:t>核心經文</a:t>
            </a:r>
            <a:r>
              <a:rPr lang="en-US" altLang="zh-CN" sz="2400" b="1"/>
              <a:t>-</a:t>
            </a:r>
            <a:r>
              <a:rPr lang="zh-TW" altLang="en-US" sz="2400"/>
              <a:t>馬太福音 </a:t>
            </a:r>
            <a:r>
              <a:rPr lang="en-US" altLang="zh-TW" sz="2400"/>
              <a:t>20:28</a:t>
            </a:r>
          </a:p>
          <a:p>
            <a:pPr marL="0" indent="0">
              <a:buNone/>
            </a:pPr>
            <a:r>
              <a:rPr lang="zh-TW" altLang="en-US" sz="2400"/>
              <a:t>「正如人子來，不是要受人的服事，乃是要服事人，並且要捨命，作</a:t>
            </a:r>
            <a:r>
              <a:rPr lang="zh-TW" altLang="en-US" sz="2400" b="1"/>
              <a:t>多人</a:t>
            </a:r>
            <a:r>
              <a:rPr lang="zh-TW" altLang="en-US" sz="2400"/>
              <a:t>的贖價。」</a:t>
            </a:r>
            <a:endParaRPr lang="en-US" altLang="zh-TW" sz="2400"/>
          </a:p>
          <a:p>
            <a:pPr marL="0" indent="0">
              <a:buNone/>
            </a:pPr>
            <a:endParaRPr lang="en-US" altLang="zh-TW" sz="2800" b="1"/>
          </a:p>
          <a:p>
            <a:pPr marL="0" indent="0">
              <a:buNone/>
            </a:pPr>
            <a:r>
              <a:rPr lang="zh-TW" altLang="en-US" sz="2800" b="1"/>
              <a:t>一個常見的誤解：</a:t>
            </a:r>
            <a:endParaRPr lang="zh-TW" altLang="en-US" sz="2800"/>
          </a:p>
          <a:p>
            <a:pPr lvl="1"/>
            <a:r>
              <a:rPr lang="zh-TW" altLang="en-US" sz="2400"/>
              <a:t>「多人」</a:t>
            </a:r>
            <a:r>
              <a:rPr lang="en-US" altLang="zh-TW" sz="2400"/>
              <a:t>= </a:t>
            </a:r>
            <a:r>
              <a:rPr lang="zh-TW" altLang="en-US" sz="2400"/>
              <a:t>僅指一部分蒙揀選的人 </a:t>
            </a:r>
            <a:r>
              <a:rPr lang="en-US" altLang="zh-TW" sz="2400"/>
              <a:t>(</a:t>
            </a:r>
            <a:r>
              <a:rPr lang="zh-TW" altLang="en-US" sz="2400"/>
              <a:t>限定的救贖</a:t>
            </a:r>
            <a:r>
              <a:rPr lang="en-US" altLang="zh-TW" sz="2400"/>
              <a:t>)</a:t>
            </a:r>
            <a:r>
              <a:rPr lang="zh-TW" altLang="en-US" sz="2400"/>
              <a:t>。</a:t>
            </a:r>
          </a:p>
          <a:p>
            <a:pPr marL="0" indent="0">
              <a:buNone/>
            </a:pPr>
            <a:r>
              <a:rPr lang="zh-TW" altLang="en-US" sz="2800" b="1"/>
              <a:t>一個符合聖經背景的理解：</a:t>
            </a:r>
            <a:endParaRPr lang="zh-TW" altLang="en-US" sz="2800"/>
          </a:p>
          <a:p>
            <a:pPr lvl="1"/>
            <a:r>
              <a:rPr lang="zh-TW" altLang="en-US" sz="2400"/>
              <a:t>「多人」</a:t>
            </a:r>
            <a:r>
              <a:rPr lang="en-US" altLang="zh-TW" sz="2400"/>
              <a:t>= </a:t>
            </a:r>
            <a:r>
              <a:rPr lang="zh-TW" altLang="en-US" sz="2400"/>
              <a:t>在當時的語言習慣中，常指一個廣泛的群體，即「所有人」。</a:t>
            </a:r>
          </a:p>
          <a:p>
            <a:pPr marL="0" indent="0">
              <a:buNone/>
            </a:pPr>
            <a:r>
              <a:rPr lang="zh-TW" altLang="en-US" sz="2800" b="1"/>
              <a:t>我們的任務：</a:t>
            </a:r>
            <a:r>
              <a:rPr lang="zh-TW" altLang="en-US" sz="2800"/>
              <a:t> 讓聖經來詮釋聖經，尋找答案。</a:t>
            </a:r>
          </a:p>
          <a:p>
            <a:pPr marL="0" indent="0">
              <a:buNone/>
            </a:pPr>
            <a:endParaRPr lang="zh-TW" altLang="en-US" sz="3600"/>
          </a:p>
        </p:txBody>
      </p:sp>
    </p:spTree>
    <p:extLst>
      <p:ext uri="{BB962C8B-B14F-4D97-AF65-F5344CB8AC3E}">
        <p14:creationId xmlns:p14="http://schemas.microsoft.com/office/powerpoint/2010/main" val="328310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羅馬書概論：保羅為何寫這封信？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大衛鮑森新約綜覽系列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一封「不尋常」的書信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一個核心問題：為何寫給羅馬？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寫作目的解析 (一)：從「作者」角度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對「作者理論」的挑戰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寫作目的解析 (二)：從「作者與讀者」角度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寫作目的解析 (三)：從「讀者」角度 (最關鍵)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羅馬教會的內部危機：一把解鎖的鑰匙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保羅的解決方案：整卷書的脈絡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全書的高峰：第9至11章的奧秘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信仰的實踐：處理具體生活衝突 (12-16章)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羅馬書的核心概念：上帝的「義」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救贖的三部曲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全書大綱總覽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結論與今日應用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提問與交流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Microsoft Macintosh PowerPoint</Application>
  <PresentationFormat>Widescreen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Bierstadt</vt:lpstr>
      <vt:lpstr>GestaltVTI</vt:lpstr>
      <vt:lpstr>萬人的救主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Yang</dc:creator>
  <cp:lastModifiedBy>Jun Yang</cp:lastModifiedBy>
  <cp:revision>4</cp:revision>
  <cp:lastPrinted>2025-07-11T15:01:22Z</cp:lastPrinted>
  <dcterms:created xsi:type="dcterms:W3CDTF">2025-05-08T16:22:30Z</dcterms:created>
  <dcterms:modified xsi:type="dcterms:W3CDTF">2025-10-21T16:51:01Z</dcterms:modified>
</cp:coreProperties>
</file>