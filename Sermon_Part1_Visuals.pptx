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天國敘事：重構登山寶訓的生命藍圖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CF0F1"/>
                </a:solidFill>
                <a:latin typeface="Microsoft JhengHei"/>
              </a:defRPr>
            </a:pPr>
            <a:r>
              <a:t>從馬太福音 5-7 章的結構讀懂耶穌的心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2C3E50"/>
                </a:solidFill>
                <a:latin typeface="Microsoft JhengHei"/>
              </a:defRPr>
            </a:pPr>
            <a:r>
              <a:t>解經的四把鑰匙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t>1. 結構決定意義：尋找隱藏的「括號」(Inclusio)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t>2. 盟約神學：宗主國之約（先恩典，後要求）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49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t>3. 理性的信心：信心包含邏輯，非反智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937760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00000"/>
                </a:solidFill>
                <a:latin typeface="Microsoft JhengHei"/>
              </a:defRPr>
            </a:pPr>
            <a:r>
              <a:t>4. 行為即禱告：生活方式與主禱文的對應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2C3E50"/>
                </a:solidFill>
                <a:latin typeface="Microsoft JhengHei"/>
              </a:defRPr>
            </a:pPr>
            <a:r>
              <a:t>登山寶訓的宏觀地圖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502920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C3E50"/>
                </a:solidFill>
                <a:latin typeface="Microsoft JhengHei"/>
              </a:defRPr>
            </a:pPr>
            <a:r>
              <a:t>第一部分：身份的確立</a:t>
            </a:r>
            <a:br/>
            <a:r>
              <a:t>(5:3 - 5:16)</a:t>
            </a:r>
            <a:br/>
            <a:br/>
            <a:r>
              <a:t>彌賽亞與祂的子民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t>八福 (5:3-12)</a:t>
            </a:r>
            <a:br/>
            <a:r>
              <a:t>天國括號：身份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t>鹽與光 (5:13-16)</a:t>
            </a:r>
            <a:br/>
            <a:r>
              <a:t>總綱：本質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3657600"/>
            <a:ext cx="731520" cy="45720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7132320" cy="5029200"/>
          </a:xfrm>
          <a:prstGeom prst="roundRect">
            <a:avLst/>
          </a:prstGeom>
          <a:solidFill>
            <a:srgbClr val="FDEB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/>
          <a:lstStyle/>
          <a:p>
            <a:pPr algn="ctr">
              <a:defRPr sz="2400" b="1">
                <a:solidFill>
                  <a:srgbClr val="2C3E50"/>
                </a:solidFill>
                <a:latin typeface="Microsoft JhengHei"/>
              </a:defRPr>
            </a:pPr>
            <a:r>
              <a:t>第二部分：使命的開展 (5:17 - 7:27)</a:t>
            </a:r>
            <a:br/>
            <a:br/>
            <a:r>
              <a:t>律法大括號：成全律法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74320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  <a:latin typeface="Microsoft JhengHei"/>
              </a:defRPr>
            </a:pPr>
            <a:r>
              <a:t>勝過文士的義</a:t>
            </a:r>
            <a:br/>
            <a:r>
              <a:t>(5:17-48)</a:t>
            </a:r>
            <a:br/>
            <a:br/>
            <a:r>
              <a:t>六個案例：</a:t>
            </a:r>
            <a:br/>
            <a:r>
              <a:t>動怒、姦淫</a:t>
            </a:r>
            <a:br/>
            <a:r>
              <a:t>起誓、愛仇敵...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474720" cy="2286000"/>
          </a:xfrm>
          <a:prstGeom prst="round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t>至聖所：禱告小括號</a:t>
            </a:r>
            <a:br/>
            <a:r>
              <a:t>(6:1 - 7:11)</a:t>
            </a:r>
            <a:br/>
            <a:br/>
            <a:r>
              <a:t>行為即禱告</a:t>
            </a:r>
            <a:br/>
            <a:r>
              <a:t>(施捨/積財/不憂慮)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5303520"/>
            <a:ext cx="3474720" cy="640080"/>
          </a:xfrm>
          <a:prstGeom prst="rect">
            <a:avLst/>
          </a:prstGeom>
          <a:solidFill>
            <a:srgbClr val="EAED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  <a:latin typeface="Microsoft JhengHei"/>
              </a:defRPr>
            </a:pPr>
            <a:r>
              <a:t>結論：抉擇 (7:13-27)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2C3E50"/>
                </a:solidFill>
                <a:latin typeface="Microsoft JhengHei"/>
              </a:defRPr>
            </a:pPr>
            <a:r>
              <a:t>身份的確立：天國的括號</a:t>
            </a:r>
          </a:p>
        </p:txBody>
      </p:sp>
      <p:sp>
        <p:nvSpPr>
          <p:cNvPr id="3" name="Right Brace 2"/>
          <p:cNvSpPr/>
          <p:nvPr/>
        </p:nvSpPr>
        <p:spPr>
          <a:xfrm>
            <a:off x="1371600" y="1828800"/>
            <a:ext cx="457200" cy="1371600"/>
          </a:xfrm>
          <a:prstGeom prst="rightBrace">
            <a:avLst/>
          </a:prstGeom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  <a:latin typeface="Microsoft JhengHei"/>
              </a:defRPr>
            </a:pPr>
            <a:r>
              <a:t>太 5:3  虛心的人有福了！因為天國是他們的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0000"/>
                </a:solidFill>
                <a:latin typeface="Microsoft JhengHei"/>
              </a:defRPr>
            </a:pPr>
            <a:r>
              <a:t>哀慟 -&gt; 得安慰 (賽 61:2)</a:t>
            </a:r>
            <a:br/>
            <a:r>
              <a:t>溫柔 -&gt; 承受地土 (賽 61:7)</a:t>
            </a:r>
            <a:br/>
            <a:r>
              <a:t>飢渴慕義 -&gt; 得飽足</a:t>
            </a:r>
            <a:br/>
            <a:r>
              <a:t>憐恤人 -&gt; 蒙憐恤...</a:t>
            </a:r>
          </a:p>
        </p:txBody>
      </p:sp>
      <p:sp>
        <p:nvSpPr>
          <p:cNvPr id="6" name="Right Brace 5"/>
          <p:cNvSpPr/>
          <p:nvPr/>
        </p:nvSpPr>
        <p:spPr>
          <a:xfrm>
            <a:off x="1371600" y="5486400"/>
            <a:ext cx="457200" cy="1371600"/>
          </a:xfrm>
          <a:prstGeom prst="rightBrace">
            <a:avLst/>
          </a:prstGeom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  <a:latin typeface="Microsoft JhengHei"/>
              </a:defRPr>
            </a:pPr>
            <a:r>
              <a:t>太 5:10 為義受逼迫的人有福了！因為天國是他們的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7F8C8D"/>
                </a:solidFill>
                <a:latin typeface="Microsoft JhengHei"/>
              </a:defRPr>
            </a:pPr>
            <a:r>
              <a:t>現在式 (is)：天國現在就是你們的！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2C3E50"/>
                </a:solidFill>
                <a:latin typeface="Microsoft JhengHei"/>
              </a:defRPr>
            </a:pPr>
            <a:r>
              <a:t>解鎖的鑰匙：宗主國之約</a:t>
            </a:r>
          </a:p>
        </p:txBody>
      </p:sp>
      <p:sp>
        <p:nvSpPr>
          <p:cNvPr id="3" name="Chevron 2"/>
          <p:cNvSpPr/>
          <p:nvPr/>
        </p:nvSpPr>
        <p:spPr>
          <a:xfrm>
            <a:off x="914400" y="2743200"/>
            <a:ext cx="2743200" cy="18288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latin typeface="Microsoft JhengHei"/>
              </a:defRPr>
            </a:pPr>
            <a:r>
              <a:t>1. 先有恩典</a:t>
            </a:r>
            <a:br/>
            <a:r>
              <a:t>(建立關係)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0" y="2743200"/>
            <a:ext cx="2743200" cy="1828800"/>
          </a:xfrm>
          <a:prstGeom prst="chevron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latin typeface="Microsoft JhengHei"/>
              </a:defRPr>
            </a:pPr>
            <a:r>
              <a:t>2. 後有律法</a:t>
            </a:r>
            <a:br/>
            <a:r>
              <a:t>(維持關係)</a:t>
            </a:r>
          </a:p>
        </p:txBody>
      </p:sp>
      <p:sp>
        <p:nvSpPr>
          <p:cNvPr id="5" name="&quot;No&quot; Symbol 4"/>
          <p:cNvSpPr/>
          <p:nvPr/>
        </p:nvSpPr>
        <p:spPr>
          <a:xfrm>
            <a:off x="7772400" y="2286000"/>
            <a:ext cx="2743200" cy="2743200"/>
          </a:xfrm>
          <a:prstGeom prst="noSmoking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律法主義</a:t>
            </a:r>
            <a:br/>
            <a:r>
              <a:t>(靠律法建立關係)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  <a:latin typeface="Microsoft JhengHei"/>
              </a:defRPr>
            </a:pPr>
            <a:r>
              <a:t>律法不是「門票」，而是「生活指南」。</a:t>
            </a:r>
            <a:br/>
            <a:r>
              <a:t>耶穌後講律法，是為了回應恩典，而非賺取恩典。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600" b="1">
                <a:solidFill>
                  <a:srgbClr val="2C3E50"/>
                </a:solidFill>
                <a:latin typeface="Microsoft JhengHei"/>
              </a:defRPr>
            </a:pPr>
            <a:r>
              <a:t>我們在哪個約裡？重疊圓圈理論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828800"/>
            <a:ext cx="4572000" cy="4572000"/>
          </a:xfrm>
          <a:prstGeom prst="ellipse">
            <a:avLst/>
          </a:prstGeom>
          <a:solidFill>
            <a:srgbClr val="BDC3C7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Microsoft JhengHei"/>
              </a:defRPr>
            </a:pPr>
            <a:r>
              <a:t>舊約 (摩西律法)</a:t>
            </a:r>
            <a:br/>
            <a:br/>
            <a:r>
              <a:t>獻祭、節期</a:t>
            </a:r>
            <a:br/>
            <a:r>
              <a:t>安息日、飲食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828800"/>
            <a:ext cx="4572000" cy="4572000"/>
          </a:xfrm>
          <a:prstGeom prst="ellipse">
            <a:avLst/>
          </a:prstGeom>
          <a:solidFill>
            <a:srgbClr val="F1C40F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Microsoft JhengHei"/>
              </a:defRPr>
            </a:pPr>
            <a:r>
              <a:t>新約 (基督律法)</a:t>
            </a:r>
            <a:br/>
            <a:br/>
            <a:r>
              <a:t>聖靈引導</a:t>
            </a:r>
            <a:br/>
            <a:r>
              <a:t>愛神愛人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t>重疊部分：</a:t>
            </a:r>
            <a:br/>
            <a:r>
              <a:t>道德核心</a:t>
            </a:r>
            <a:br/>
            <a:r>
              <a:t>(不可殺人、不可姦淫)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392B"/>
                </a:solidFill>
                <a:latin typeface="Microsoft JhengHei"/>
              </a:defRPr>
            </a:pPr>
            <a:r>
              <a:t>不重疊 = 影兒已過 (不用守)</a:t>
            </a:r>
            <a:br/>
            <a:r>
              <a:t>重疊 = 道德永恆 (要深化)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